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12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C7672-AFFE-2B07-47CF-2875674AE31E}" name="Cherry Han" initials="" userId="S::cherry@innerchapter.co::1dd7f24e-13b2-4c7a-8415-37a02a35855a" providerId="AD"/>
  <p188:author id="{98416D7D-EF7F-971D-B704-6C1DCB47CF77}" name="Elaine Shi" initials="" userId="S::elaine.shi@innerchapter.co::2af58256-6942-4121-8ecb-62f3c6602c64" providerId="AD"/>
  <p188:author id="{5AB311B4-987F-60F2-C647-296155F517BC}" name="Tristan McInnis" initials="TM" userId="S::tristan@innerchapter.co::e87dff8a-f63f-4ba8-b09b-39f97b45c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4B5"/>
    <a:srgbClr val="5AC19D"/>
    <a:srgbClr val="1A3C5A"/>
    <a:srgbClr val="29C08E"/>
    <a:srgbClr val="2574A6"/>
    <a:srgbClr val="737FA6"/>
    <a:srgbClr val="F5BB57"/>
    <a:srgbClr val="FEF3C7"/>
    <a:srgbClr val="00B0F0"/>
    <a:srgbClr val="EDD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A715-7DAC-C54E-8216-F0C5EF2D1720}" v="62" dt="2026-01-07T07:54:18.668"/>
    <p1510:client id="{9332F9C2-058B-028F-5839-50A7CD45178E}" v="83" dt="2026-01-07T06:51:39.180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4673"/>
  </p:normalViewPr>
  <p:slideViewPr>
    <p:cSldViewPr snapToGrid="0">
      <p:cViewPr varScale="1">
        <p:scale>
          <a:sx n="96" d="100"/>
          <a:sy n="96" d="100"/>
        </p:scale>
        <p:origin x="184" y="290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E2E74C-16C8-D641-8DBE-8FEE07A4EB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A9B7E-3A49-754E-B3EC-55E1CFEB2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E40F-9A50-5C47-8378-7B9CBFF94EF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1DE0F-2E57-A240-8CDC-12D9CFD48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0F83-D774-084B-A781-5215BCCFF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0A68B-2577-184E-B375-514975720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01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7ED42-C858-4341-A34B-9A27DFC26AF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CEFD5-4C5B-6E4A-A468-67AE7B500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23C1B-BBF4-8C47-946E-21B2EBD77269}"/>
              </a:ext>
            </a:extLst>
          </p:cNvPr>
          <p:cNvSpPr/>
          <p:nvPr userDrawn="1"/>
        </p:nvSpPr>
        <p:spPr>
          <a:xfrm>
            <a:off x="155575" y="1449388"/>
            <a:ext cx="11880849" cy="3240087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5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9135A-D0FB-C74D-B64B-A2465FD7E31F}"/>
              </a:ext>
            </a:extLst>
          </p:cNvPr>
          <p:cNvCxnSpPr>
            <a:cxnSpLocks/>
          </p:cNvCxnSpPr>
          <p:nvPr userDrawn="1"/>
        </p:nvCxnSpPr>
        <p:spPr>
          <a:xfrm>
            <a:off x="8187798" y="1449388"/>
            <a:ext cx="0" cy="3240087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639C6D-5F24-D741-A5C1-6DB971FDCFF4}"/>
              </a:ext>
            </a:extLst>
          </p:cNvPr>
          <p:cNvCxnSpPr>
            <a:cxnSpLocks/>
            <a:stCxn id="2" idx="1"/>
          </p:cNvCxnSpPr>
          <p:nvPr userDrawn="1"/>
        </p:nvCxnSpPr>
        <p:spPr>
          <a:xfrm>
            <a:off x="155575" y="3069432"/>
            <a:ext cx="8032223" cy="0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63B02F-4C5D-CB4D-9FDB-38277C580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826" y="3334871"/>
            <a:ext cx="2483641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700631-5F8C-7244-9D82-274A807E2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26" y="1699027"/>
            <a:ext cx="7495907" cy="1202670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0FCAF1B-C99E-C144-A97D-B1E1E1029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8047" y="1699101"/>
            <a:ext cx="3268126" cy="1202595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B7A4B2F-BC63-9E4A-935A-66568B258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8046" y="3338373"/>
            <a:ext cx="3268127" cy="118336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55B9CD-36F0-C44A-A901-F8BB2CD8E5B7}"/>
              </a:ext>
            </a:extLst>
          </p:cNvPr>
          <p:cNvCxnSpPr>
            <a:cxnSpLocks/>
          </p:cNvCxnSpPr>
          <p:nvPr userDrawn="1"/>
        </p:nvCxnSpPr>
        <p:spPr>
          <a:xfrm>
            <a:off x="4504616" y="3069431"/>
            <a:ext cx="0" cy="1620042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6FD9148-93D2-6044-8403-3003F20AD0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0682" y="3334871"/>
            <a:ext cx="3191049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9322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id-2x2-2-body-a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91288A1-B781-8746-B811-2FB4F3E71F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A31C18-2342-2B42-B4EA-87ACBD3E2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8200" y="2785274"/>
            <a:ext cx="7078130" cy="1287452"/>
          </a:xfrm>
        </p:spPr>
        <p:txBody>
          <a:bodyPr anchor="ctr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26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ent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54864-7CAA-224B-8289-E6FDA33F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5C3D29-B8A7-3642-ADE0-3ECF83C7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55575" y="1990165"/>
            <a:ext cx="5760000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3847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290607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69927-ACA1-2D46-9C0E-8CAF864B8D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575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3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1" y="0"/>
            <a:ext cx="6026149" cy="6858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9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2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8AB4D1-EC5B-4E45-A1C0-B45EC36D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1"/>
            <a:ext cx="11880850" cy="1608418"/>
          </a:xfrm>
        </p:spPr>
        <p:txBody>
          <a:bodyPr tIns="36000"/>
          <a:lstStyle>
            <a:lvl1pPr>
              <a:defRPr sz="3000" b="0" i="0">
                <a:solidFill>
                  <a:schemeClr val="tx1"/>
                </a:solidFill>
                <a:latin typeface="Apto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C0BA2FA-07A3-5142-B026-A1BFA957CF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575" y="2528888"/>
            <a:ext cx="5760000" cy="3960812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410499-928A-7645-B5BD-59B1800A9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2403" y="2528886"/>
            <a:ext cx="5760000" cy="3960813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55E7B62-A971-BB45-9454-2CC74BE0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80850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9240A5D-4018-8546-BE0E-A8B8327E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text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90374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9068341-57BF-1F4A-8EEF-332D3E85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EE3E19B-F88C-1B43-8A8B-22D402D179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7264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01426E-30DE-9342-B87A-CEC00757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3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2521721"/>
          </a:xfrm>
          <a:solidFill>
            <a:schemeClr val="bg1"/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1A2B582-51B1-0C42-BCB5-9E396526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7E98-D143-8978-7D7F-6B6F32D679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5574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7EA174F-108A-4E62-3DEF-325C3F7DEE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22671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33C3EE2-D99E-D1BE-877E-C479AE3DBA5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4902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8A9535F-DBBF-66A5-35B9-6A5F09B19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57805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711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B595B-4205-4D47-B59F-0A55C51C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839" y="367626"/>
            <a:ext cx="12173161" cy="6490373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BA183-6E9C-1145-BB0F-A6933862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7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7592326" y="1326475"/>
            <a:ext cx="2974745" cy="4875725"/>
          </a:xfrm>
        </p:spPr>
        <p:txBody>
          <a:bodyPr/>
          <a:lstStyle>
            <a:lvl1pPr marL="0" indent="0">
              <a:buNone/>
              <a:defRPr b="0" i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1BEF3A9-4724-3143-BA1C-415A6A7F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EB51D5-FD6B-5D4D-8804-6CE4CC84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C35BAE-6E34-FA41-B65D-E641E7EE17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C6BE376-01CC-F64A-BB5F-6746BF0A36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5395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0FAD1C-E66D-B546-8159-ECEBF81B6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158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3C69358-ADD9-3D49-9507-27909C670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49939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8E21574-B09D-C449-93A2-75E99909EC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7720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10038-8434-4F41-A5FF-BDC4ADE55AC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85704" y="3036563"/>
            <a:ext cx="2624138" cy="3470563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40826FC-BD4E-FC41-8169-06CB3AB9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0F74CD-AEBD-774D-89CA-6CADE955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21605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5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9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text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4" y="2539088"/>
            <a:ext cx="5760000" cy="1080000"/>
          </a:xfrm>
        </p:spPr>
        <p:txBody>
          <a:bodyPr/>
          <a:lstStyle>
            <a:lvl1pPr marL="0" indent="0">
              <a:buNone/>
              <a:defRPr sz="1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55575" y="969462"/>
            <a:ext cx="5760000" cy="1080000"/>
          </a:xfrm>
        </p:spPr>
        <p:txBody>
          <a:bodyPr/>
          <a:lstStyle>
            <a:lvl1pPr marL="0" indent="0">
              <a:buNone/>
              <a:defRPr sz="3000" b="0"/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969461"/>
            <a:ext cx="2880000" cy="5537661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67FD2FB-970F-5E40-8E3F-69388BB106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56425" y="970322"/>
            <a:ext cx="2880000" cy="5536800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F180C03-5D52-2240-95AD-0550F61A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2791A2E4-2185-7749-B604-F59CE16ED4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5574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5401A106-1D57-114E-8E64-A23E205D198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5575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2343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bottom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200000" cy="6858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75613" y="1449388"/>
            <a:ext cx="3960811" cy="7032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30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075613" y="2528888"/>
            <a:ext cx="3960810" cy="39798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AADD57D-5223-714D-9165-1653BA03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53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703662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A3FE22-3CC4-3F48-838D-4FA0234C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3DCD6BE-F15C-D04D-8340-032229F174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CC0B2E-3601-8D4C-A856-B7DA7DA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F8AA27BF-71B0-2443-82CB-6FB11D349A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25999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32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7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1F40CE-64CE-9B4A-9AE0-3B181E314C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121802" y="3634898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DC23CC-6189-1E4C-9EDF-AFCE64513F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121802" y="4689475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512D4807-295F-0E4E-980C-1CB31AC418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6000" y="1624385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023EF6-DB1E-0046-AB58-0C3D1D8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F74696E-9D5B-4748-B00E-6060671D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32690E49-74DC-B54F-8E17-202B91FC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051C596-317B-3D4D-89E4-726D45AEF05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39465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E459248-E253-254C-BBAE-2E1DC567BA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39465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3475E9BD-69E9-EB4E-9F5D-B313DF63A76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43663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27C7A83-9C2E-474D-98DC-46E98DF4AA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130634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9FE479-E251-9546-A780-285ABBC5771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30634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73083E15-35B7-614F-94FF-8D9DF0CF9AF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34832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707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0315AEC-606C-D74B-B0CE-82C7360A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EE5948-79B6-8349-9FF8-4BBD24694E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D4A6AA-7535-2A4A-9606-F048EE99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8A57AAB-DEDF-9E47-869E-601263D921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26000" y="1623776"/>
            <a:ext cx="8897663" cy="486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0264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1" y="1629480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5400614" y="1629479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675227" y="162947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949839" y="1629476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1" y="3355839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400613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7675225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9949838" y="3355837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3126001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5400613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7675225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9949838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C7D43A27-AB6D-8A4C-80B5-5E1E95E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7C9E37E-E54B-8C4A-8006-7CD3AC30CF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9D1A6F7-C1AB-5749-ACF0-EF33E689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876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0982-4C22-D04C-9DEE-E0F17CD9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6DE050-61AD-2740-8EC5-69F28F45E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622265-8721-CC4C-A6A3-280BA0F5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9CE51D20-3BF7-314E-9420-BD3D7020B6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F578801-0686-9644-AA6B-CD9119C69F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33663" y="1626053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2340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B51F7BE-AAD1-D440-AA76-18C33D4A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2A9AAD-C1FB-8A47-BF12-8D1460D690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410E63-B74B-9642-ACFC-A1A887BA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7C5B20DF-D543-7142-AC53-A7E5DADC2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40948E-C778-3141-8FFB-842EA667ACB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2612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3B96FFC-23B8-8440-BB37-E3DD799F51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B7F3CE87-F04C-EC4E-A081-3BC2EA20E3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612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1B82BDB-D1C8-21DA-4570-EA1FD62B6F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4949" y="162438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B9CBDE6F-6459-724D-FE92-CE1ECF46240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4949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7545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55575" y="532623"/>
            <a:ext cx="11880850" cy="5074599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55575" y="5801970"/>
            <a:ext cx="11880850" cy="687730"/>
          </a:xfrm>
        </p:spPr>
        <p:txBody>
          <a:bodyPr/>
          <a:lstStyle>
            <a:lvl1pPr>
              <a:defRPr sz="3000" b="0" i="0">
                <a:latin typeface="Aptos" pitchFamily="2" charset="0"/>
              </a:defRPr>
            </a:lvl1pPr>
          </a:lstStyle>
          <a:p>
            <a:r>
              <a:rPr lang="en-US"/>
              <a:t>Click to edit text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B6B384-1BB3-6543-9425-5BFFE0CF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6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str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89C5A3-E064-5E40-B826-E6CC14891341}"/>
              </a:ext>
            </a:extLst>
          </p:cNvPr>
          <p:cNvCxnSpPr>
            <a:cxnSpLocks/>
          </p:cNvCxnSpPr>
          <p:nvPr userDrawn="1"/>
        </p:nvCxnSpPr>
        <p:spPr>
          <a:xfrm>
            <a:off x="6091237" y="352620"/>
            <a:ext cx="0" cy="635298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2D60D0-9787-594F-BD01-75430A18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1874EE-1B24-E2E8-81FC-6BFF4E237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39565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AB75DF2-5829-8CDE-8167-0E8AFB571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471" y="5451564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367790-E0FE-5980-1534-3530015947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62888" y="5451563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64A1C52-CA4F-22AA-5F20-22874F988A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8148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8551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224" userDrawn="1">
          <p15:clr>
            <a:srgbClr val="FBAE40"/>
          </p15:clr>
        </p15:guide>
        <p15:guide id="2" pos="751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8730328-2DEC-B040-BA78-EAC8B86D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433829F2-EE45-D843-99C6-51E5D66F354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6D8C8A6B-65B2-B642-A474-0837EF0C091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6625" y="1628775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B112EE96-3F03-1049-AC80-AC0617F07DC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3337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764155D4-F972-A342-BE3B-E5173E99795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1099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E6F09F01-9070-3A41-9F62-426440A1F1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8862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2E3AE-9B37-C243-BF2D-C5339DEA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45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5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5557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78320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00106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23810" y="1632223"/>
            <a:ext cx="2205888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844443" y="1630949"/>
            <a:ext cx="2201506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BAA2F6-154B-D44E-8D46-4EC7803D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406BBB-AF7B-6345-9F01-3C68AC53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90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5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5575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6034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99649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14767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828421" y="4357598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CEA2C58-89DE-AE4C-A592-22759A1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49D51CE-1784-7A4B-AAAC-303F4579586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53460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519B505F-3B4D-F84B-941A-DBA1F67181B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2571184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6B162666-3667-0840-A9FC-5F37D5CD42A3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4988908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E51865DD-5430-494D-90CF-73DC66E3ABD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06632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19B1859B-DEC6-2B4A-AF37-43AB6147BF2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24355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B47654-228A-5740-A719-5F1A72FE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05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5x2-image-top-10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9615844-D433-B847-BBFA-B67B7315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F1FA14F-7D8C-C542-9A42-BABF0533C7E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50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2CAAA10D-39AE-B841-9D02-2A07B4D02FD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4510" y="1631949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7487BB8-F4AB-DD4B-B1D9-76CDB7A31F2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2809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3E25FB1-E54C-BB44-9C33-6E47043DF1D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0043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2E76E0C-D1B3-F247-8932-3AA799E313C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7277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973F89E9-FD06-724A-B8C8-4B74F2D0E49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78183"/>
            <a:ext cx="2209801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1FAD4D6-0CC3-E54F-A323-7BBF6D645F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573109" y="3478183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3B748AA3-CB6D-FF4C-ADAF-966A86D4A3C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4988230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E88355D4-814A-CA4C-9A28-6AAE1F9C330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7403351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9F1FD809-3EAA-FD4F-BC16-53CF5577A20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9818473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A2A25609-872B-D246-9C2E-2642E89B4DC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575567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5C0AD65B-2E99-E345-83FD-C7001B9F04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99344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13BCA34A-9D77-F148-ABED-6F26D41858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09134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A1969EA-6CF3-5A4D-92E0-D5EECD0C002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820207" y="4356107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B7ED172-A108-3649-947D-70A9AE5A06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7690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E8AEE7-A2B5-C64F-85D6-02593071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6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C43161-501F-D546-B0D5-D89B73DF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6689F29-B923-1F4A-AC42-67E6A479123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85098" y="1631579"/>
            <a:ext cx="2791883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60043D2-53C6-7941-A3D5-C929281D478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203324" y="1631580"/>
            <a:ext cx="2791882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8031D29-4E11-F14C-804D-41652CAAF08C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1549" y="1631580"/>
            <a:ext cx="2791881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9B74DE-B705-D641-8F3E-5B69743CC8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1"/>
            <a:ext cx="2806175" cy="50651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73A06-123A-EF47-96E4-5B79D978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84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4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840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123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406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1B935B-0072-0345-9074-C64F72CC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AA2EEA-EECD-774E-8190-63A4A4A7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8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074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9195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2815" y="4374074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6436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98DFE-378A-544A-82CF-D722653B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D3847D4-9C7A-E14C-8643-DF71D75E656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D307999-30E5-344A-873B-82842CA77684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19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7E7DFAA-DA96-BE44-9089-73A92A9E724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81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8C7D8C16-9A30-9149-95A8-6001C824A7B4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6436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7FFCF4-D153-1348-A0FE-55C058C0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94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8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5746C1E-AD83-7940-A6EC-62DEF80CE03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806" y="3480495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5A22BEA-018F-C245-B7F1-8A4E7BEDE18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9225" y="3472600"/>
            <a:ext cx="2789769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ED06626-3F9B-6945-AC97-9DFC51B8663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2264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C455EF8-D72B-704C-96E5-E43A5B3DCE6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06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1E84F47-4B8E-8A47-9277-6D4E221D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3D05617-0B7C-C344-AF55-860A35124C30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8BB04B27-A15D-7342-8454-B297838DE56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033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25E00FA1-07FE-9E42-A02C-2F5EACC2438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491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D164574-81E9-D04D-AAFC-D5B33ECEF1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917919BE-A04A-FE41-B482-63A7B7A90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742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548E8825-F2F0-DD40-9F2E-8E42EBD3F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9033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5F4310F0-A917-9945-8251-20855DE173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2491" y="4356107"/>
            <a:ext cx="2790000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CDDC61EB-3D9B-7843-94C7-FA59AEDFB84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2C6713E-D540-4E47-8C1D-A50C756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0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E75F1-1785-D841-84FB-9DAAB88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F9520093-ECB9-9D46-A396-ED8A8E57074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226368F-DC29-8B46-9117-9D591E2E44D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5058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1C4054A-A7A3-6F4C-A8EB-32D3AA7ED17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0250" y="1638507"/>
            <a:ext cx="2806175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30899-EDCB-5C45-AD84-F1C189DB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3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8998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44541" y="1632222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638F31-524A-E24B-8E5D-3D5CDAC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B5C76-01C3-4549-8746-83FC0A6707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55575" y="1632222"/>
            <a:ext cx="2789765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D8320C-D8C2-9444-A871-2CFDCBE2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628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39411"/>
            <a:ext cx="2789765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5263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37071" y="4356107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519F57-10A9-8347-9BFB-5A14D25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BA89591-8AC1-2C4F-BFF5-5513D38E08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1883" cy="2704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225A768-EC5B-0F4C-8994-F5F84CCA354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27011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6000D9C-6175-E942-B8CE-3401B8A234E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29926" y="1631581"/>
            <a:ext cx="2806175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40B523-1D23-234E-8173-11F08589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0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1DB0A94-CD0C-4A43-B61D-A105C7FC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432CE023-FD38-AD4C-8D06-83F5DDE11B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D7B4F55-A584-7E43-A148-15B61D283CE8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7836" y="1638506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D5CA33EC-0FEA-7D41-8F69-152C5B4D068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C77739F6-BF63-B342-B66B-86B5EC8AA0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67283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BA243B4-4DCB-CC42-9431-35C549EB2B3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588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7345EA32-3876-F946-96F6-F1ABEE39981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4711935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0419AA9F-2E0F-BE46-8297-F4D2B3F7D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7283" y="4356107"/>
            <a:ext cx="2789765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E674D671-0F7F-414C-B1C4-8A6636F585A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11289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2E4686CA-3A8D-614D-B4C2-818A2D4E15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530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F62C15-9C23-D449-8049-662F09B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9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DFD9A66A-1E8B-9241-AEC0-BD26ABD4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8646DDBF-F5B5-7340-9433-052C7389FF5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3E20895B-1B95-8948-858C-5E463D68D972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7"/>
            <a:ext cx="2791882" cy="50582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42464EE-75B6-AD42-9314-C6FE2DF8A1F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1"/>
            <a:ext cx="2806175" cy="5065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B30331-D06E-D141-8DBD-8E7E7D77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40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11819DC-84D8-244D-9A74-4167231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1EAB9122-2793-E646-B63A-8AC3A875E3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1626407"/>
            <a:ext cx="2791884" cy="5073382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7A0074D-971D-744D-82F2-D3987104ECF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1631581"/>
            <a:ext cx="2791884" cy="5068209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 dirty="0"/>
              <a:t>Second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170C7A04-4881-5D47-B884-C4EDD8C8903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1631581"/>
            <a:ext cx="2811402" cy="506579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953A0E-9114-C84B-9322-3662CE47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65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073C151-DA6F-5449-BD29-9BC5BF63B1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433700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1B7E5D1-804D-2642-A5BA-478221167ED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12462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385810-928D-784F-88C0-3F5A9A81B3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757521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E8D519B-305F-904E-89FF-0E4CA5F2CA8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43394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45C1924-BB6A-2B43-8A73-AFF95FBA25C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3893" y="3478183"/>
            <a:ext cx="280405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FA13C1-8C7E-9443-A348-D5866B8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84B3CAA7-3702-B042-8249-361377F1F9C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5D0672D-38D7-9445-A5AF-26A81FCFE915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8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2A36F46-26DF-3F48-B1B8-E65FD67EAF4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A9823E3-63C7-FD43-8783-5AD158F49F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43415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64B212-DC33-FB43-8A4A-2782A4DD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2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DF2014B-C9F5-E548-8737-4CF4251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3C115A-7DAE-9045-9A67-0AF91538A2CC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64AD4382-041B-6D4A-A94C-8E0C70D8FD5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98919" y="1631581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FF0C70-03FB-B24B-981A-11C4BE97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B5DAF23-2163-EC87-E4B0-60CEFCEA062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55575" y="4225873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B14E6-DF37-2423-7CB6-F6CD6E6E761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196800" y="4219937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48168" y="4357838"/>
            <a:ext cx="532612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6717709" y="4339411"/>
            <a:ext cx="5328240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6D4FDB-F2C0-A14F-B672-A39ECF4F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305A346-92F7-794B-BEAC-7C0DF20ADA4A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A946BF5-6ABE-4040-9B1A-AB38D4B5926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C6BB4C-35A7-214A-BDCB-1CF92E17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7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6BDA99B-DEEF-EC46-A5A7-2EAC19F97A2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9345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6660B9E-7378-B14B-BC75-E0CA8AAAA81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255949" y="3479027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166051-4F32-6A42-BB0B-1EAEBE3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CA79D0B-B16F-CA4A-9CCA-69A428984259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788FCCC-9839-0B4E-A52D-0F570FDCD2F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9076C1B-234E-6F47-9BF7-8D299FD4F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43199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9E9897D-0413-6A43-B506-C332AF370D6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43200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890411-D80C-9849-9B82-33714C6F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6706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230034" y="4339411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172201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C42A21-2C44-E44D-9282-76558659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9A9875-667B-4841-8698-DC5411A5338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3230034" y="1629919"/>
            <a:ext cx="2791883" cy="27048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A177D81-EFCD-9B44-BF7C-A006FD471C47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70084" y="1632454"/>
            <a:ext cx="2806175" cy="27048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9F209D-EEEF-2849-B2C3-15E28322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47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87865" y="1618745"/>
            <a:ext cx="11616000" cy="0"/>
          </a:xfrm>
          <a:prstGeom prst="line">
            <a:avLst/>
          </a:prstGeom>
          <a:ln w="6350" cap="sq" cmpd="sng">
            <a:solidFill>
              <a:schemeClr val="tx1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87865" y="1618746"/>
            <a:ext cx="11616000" cy="3624239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30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2pPr>
            <a:lvl3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3pPr>
            <a:lvl4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4pPr>
            <a:lvl5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 baseline="0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5pPr>
            <a:lvl6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6pPr>
            <a:lvl7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7pPr>
            <a:lvl8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 baseline="0">
                <a:solidFill>
                  <a:schemeClr val="tx1"/>
                </a:solidFill>
                <a:latin typeface="+mn-lt"/>
              </a:defRPr>
            </a:lvl8pPr>
            <a:lvl9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EDDDBB-60B4-4A48-B498-8A04C23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D038A1-5161-0F4E-9DFE-C23FFFE7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756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4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DAE393E-333B-204F-B398-EBEAEC8211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91790" y="209171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369179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B13A637-EB0D-AA43-8A32-CFD5450CC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18F41D-25DA-F847-84DC-7A247C8CE9E0}"/>
              </a:ext>
            </a:extLst>
          </p:cNvPr>
          <p:cNvCxnSpPr>
            <a:cxnSpLocks/>
          </p:cNvCxnSpPr>
          <p:nvPr userDrawn="1"/>
        </p:nvCxnSpPr>
        <p:spPr>
          <a:xfrm>
            <a:off x="366151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D4CC67-55E4-5C4E-8EBA-5C46E8AFA158}"/>
              </a:ext>
            </a:extLst>
          </p:cNvPr>
          <p:cNvCxnSpPr>
            <a:cxnSpLocks/>
          </p:cNvCxnSpPr>
          <p:nvPr userDrawn="1"/>
        </p:nvCxnSpPr>
        <p:spPr>
          <a:xfrm>
            <a:off x="823302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FD85D3-58E9-EE46-B5A8-D78E130C968A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EC06AE-FCAF-3847-80C8-D7CE6A001A1E}"/>
              </a:ext>
            </a:extLst>
          </p:cNvPr>
          <p:cNvCxnSpPr>
            <a:cxnSpLocks/>
          </p:cNvCxnSpPr>
          <p:nvPr userDrawn="1"/>
        </p:nvCxnSpPr>
        <p:spPr>
          <a:xfrm>
            <a:off x="3661511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EBDCC3-4D0F-6A48-849B-0AC1455EAF04}"/>
              </a:ext>
            </a:extLst>
          </p:cNvPr>
          <p:cNvCxnSpPr>
            <a:cxnSpLocks/>
          </p:cNvCxnSpPr>
          <p:nvPr userDrawn="1"/>
        </p:nvCxnSpPr>
        <p:spPr>
          <a:xfrm>
            <a:off x="5944652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0EFC9-F968-6541-B274-51A3408E033C}"/>
              </a:ext>
            </a:extLst>
          </p:cNvPr>
          <p:cNvCxnSpPr>
            <a:cxnSpLocks/>
          </p:cNvCxnSpPr>
          <p:nvPr userDrawn="1"/>
        </p:nvCxnSpPr>
        <p:spPr>
          <a:xfrm>
            <a:off x="822779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C3DDA3-EE08-5646-9A0D-E06CC46C7D45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60169F-80B8-9246-A7FB-C5731AB40B85}"/>
              </a:ext>
            </a:extLst>
          </p:cNvPr>
          <p:cNvCxnSpPr>
            <a:cxnSpLocks/>
          </p:cNvCxnSpPr>
          <p:nvPr userDrawn="1"/>
        </p:nvCxnSpPr>
        <p:spPr>
          <a:xfrm>
            <a:off x="5947266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10178C2-C2B9-8F4E-8D05-2724E8033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588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90B260-BE6E-704F-B95D-16A6205CE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5386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DAC7D7D-CF65-4A4A-A552-822FE7AB07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93BBF29-BC6C-0F47-8FCD-AA0F5C7E72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8588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60EA197-5F62-1B41-AD09-AB3BBAAFB3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5386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6637D7D-9D2A-E544-9B47-8A461B24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94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651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3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B989DD-7F4C-364A-AE06-5A0903B3B57A}"/>
              </a:ext>
            </a:extLst>
          </p:cNvPr>
          <p:cNvCxnSpPr>
            <a:cxnSpLocks/>
          </p:cNvCxnSpPr>
          <p:nvPr userDrawn="1"/>
        </p:nvCxnSpPr>
        <p:spPr>
          <a:xfrm>
            <a:off x="8199439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C02B7D-1602-7044-8580-7ABB0BC2392F}"/>
              </a:ext>
            </a:extLst>
          </p:cNvPr>
          <p:cNvCxnSpPr>
            <a:cxnSpLocks/>
          </p:cNvCxnSpPr>
          <p:nvPr userDrawn="1"/>
        </p:nvCxnSpPr>
        <p:spPr>
          <a:xfrm>
            <a:off x="588644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4F3B4C-E207-3645-BC41-7283940EB8A5}"/>
              </a:ext>
            </a:extLst>
          </p:cNvPr>
          <p:cNvCxnSpPr>
            <a:cxnSpLocks/>
          </p:cNvCxnSpPr>
          <p:nvPr userDrawn="1"/>
        </p:nvCxnSpPr>
        <p:spPr>
          <a:xfrm>
            <a:off x="8198688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28AEA9-9FC9-0540-82E3-43A6374D7A49}"/>
              </a:ext>
            </a:extLst>
          </p:cNvPr>
          <p:cNvCxnSpPr>
            <a:cxnSpLocks/>
          </p:cNvCxnSpPr>
          <p:nvPr userDrawn="1"/>
        </p:nvCxnSpPr>
        <p:spPr>
          <a:xfrm>
            <a:off x="5880100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F4A771F-F282-A442-BFA9-A93064C681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379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791CA1F-0998-3347-B3A3-ACD1CD08E8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16282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0759226B-79CF-234A-A020-96E89611E9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8010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D01546E4-16AA-3143-854C-FF6E933B65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114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F10C32B-2020-474A-A0A5-E5359CB3F2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A69936D-566E-CA45-80BA-56A4D884EA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2CCD17-F76E-9B42-8806-3438DBD2638D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76100D-B3DF-5F48-86F5-D20771D7C68C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EC46278F-2CD5-2C45-95AD-1B9F5AB030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C77964C-2648-9645-9408-A797CC8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2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59B267-53D2-0B40-824D-590B60920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EEFD392-50A3-D34D-95D6-D88EC90483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600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6B254B6-005F-9143-8B1F-50F4587559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D29B5CA-8C73-A14B-B45C-E93207BB0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641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F608956-D1A6-AE44-A1B0-7147485A57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3596" y="2090498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35FE4D-7854-AA44-9BAE-A4E365191222}"/>
              </a:ext>
            </a:extLst>
          </p:cNvPr>
          <p:cNvCxnSpPr>
            <a:cxnSpLocks/>
          </p:cNvCxnSpPr>
          <p:nvPr userDrawn="1"/>
        </p:nvCxnSpPr>
        <p:spPr>
          <a:xfrm>
            <a:off x="3866417" y="2784536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53A70A95-B33A-E740-9FC2-5B843D4F26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6418" y="2090499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9900FC-9D59-EB49-95FF-89421BB734B3}"/>
              </a:ext>
            </a:extLst>
          </p:cNvPr>
          <p:cNvCxnSpPr>
            <a:cxnSpLocks/>
          </p:cNvCxnSpPr>
          <p:nvPr userDrawn="1"/>
        </p:nvCxnSpPr>
        <p:spPr>
          <a:xfrm>
            <a:off x="3866417" y="1912388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42B8A3-158C-184D-91C0-CB4CCB10FC14}"/>
              </a:ext>
            </a:extLst>
          </p:cNvPr>
          <p:cNvCxnSpPr>
            <a:cxnSpLocks/>
          </p:cNvCxnSpPr>
          <p:nvPr userDrawn="1"/>
        </p:nvCxnSpPr>
        <p:spPr>
          <a:xfrm>
            <a:off x="8286002" y="2784536"/>
            <a:ext cx="380353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D5E8CA-DB5C-A248-A6D4-08E04D922889}"/>
              </a:ext>
            </a:extLst>
          </p:cNvPr>
          <p:cNvCxnSpPr>
            <a:cxnSpLocks/>
          </p:cNvCxnSpPr>
          <p:nvPr userDrawn="1"/>
        </p:nvCxnSpPr>
        <p:spPr>
          <a:xfrm>
            <a:off x="8286002" y="1914696"/>
            <a:ext cx="38171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4354B13-1DF5-EE47-A504-7D12E0832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B32593-D3DC-0943-8FA0-B82E030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6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1-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14BC974-A85F-F145-9E49-E437EAD7CE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006" y="2090499"/>
            <a:ext cx="5960943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67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61BA336-B1F0-E74E-81AA-74F920393C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6" y="2944207"/>
            <a:ext cx="6004529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98370B2-27D0-B24A-93DF-E6A749EA4DDB}"/>
              </a:ext>
            </a:extLst>
          </p:cNvPr>
          <p:cNvCxnSpPr>
            <a:cxnSpLocks/>
          </p:cNvCxnSpPr>
          <p:nvPr userDrawn="1"/>
        </p:nvCxnSpPr>
        <p:spPr>
          <a:xfrm>
            <a:off x="6085006" y="2784536"/>
            <a:ext cx="600453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9C3F4B-5AA5-2A4E-AA56-B85F435D97C2}"/>
              </a:ext>
            </a:extLst>
          </p:cNvPr>
          <p:cNvCxnSpPr>
            <a:cxnSpLocks/>
          </p:cNvCxnSpPr>
          <p:nvPr userDrawn="1"/>
        </p:nvCxnSpPr>
        <p:spPr>
          <a:xfrm>
            <a:off x="6085006" y="1914696"/>
            <a:ext cx="6018096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9E4B27-56FB-6A40-AAD7-90E59E7975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8225887-07AC-F44C-8253-15699F1E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1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-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6A2C3C-4634-F446-A6F6-B19870967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6387" y="1449387"/>
            <a:ext cx="7920037" cy="4737629"/>
          </a:xfrm>
        </p:spPr>
        <p:txBody>
          <a:bodyPr tIns="0" numCol="2" spcCol="108000"/>
          <a:lstStyle>
            <a:lvl1pPr marL="0" indent="0">
              <a:lnSpc>
                <a:spcPct val="109000"/>
              </a:lnSpc>
              <a:buFont typeface="Franklin Gothic Book" panose="020B0503020102020204" pitchFamily="34" charset="0"/>
              <a:buNone/>
              <a:tabLst>
                <a:tab pos="298443" algn="l"/>
              </a:tabLst>
              <a:defRPr sz="1067" b="0" i="0">
                <a:latin typeface="Aptos" pitchFamily="2" charset="0"/>
                <a:ea typeface="Aptos" charset="0"/>
                <a:cs typeface="Aptos" charset="0"/>
              </a:defRPr>
            </a:lvl1pPr>
            <a:lvl2pPr marL="623984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2pPr>
            <a:lvl3pPr marL="1007975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1067" b="0" i="0" baseline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5pPr>
            <a:lvl6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6pPr>
            <a:lvl7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7pPr>
            <a:lvl8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8pPr>
            <a:lvl9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081D-C526-8B4E-8618-5FC6A9BA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28AA3-5B4E-7344-B82F-CC42980AE11B}"/>
              </a:ext>
            </a:extLst>
          </p:cNvPr>
          <p:cNvSpPr txBox="1"/>
          <p:nvPr userDrawn="1"/>
        </p:nvSpPr>
        <p:spPr>
          <a:xfrm>
            <a:off x="155575" y="1449388"/>
            <a:ext cx="1600570" cy="7199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/>
            <a:r>
              <a:rPr lang="en-US" sz="1733" b="0" i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rPr>
              <a:t>TERMS &amp; CONDITIONS</a:t>
            </a:r>
          </a:p>
        </p:txBody>
      </p:sp>
    </p:spTree>
    <p:extLst>
      <p:ext uri="{BB962C8B-B14F-4D97-AF65-F5344CB8AC3E}">
        <p14:creationId xmlns:p14="http://schemas.microsoft.com/office/powerpoint/2010/main" val="11344471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08F399-6E86-074E-8B79-DAF4FD1CD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4B37A-260B-BF4B-9C53-07199AFB5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884332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black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BEA07-15C2-B641-AC43-8A9E1F2692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2878715-DF52-EF41-A69F-A062F370E1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09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ABC661-78D7-B844-9890-EC5A1167C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Drag picture to placeholder or select placeholder and click Insert &gt; Photo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7D8431-29D8-FB4B-9B2A-3E4A4F3C4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4319587"/>
          </a:xfrm>
          <a:solidFill>
            <a:schemeClr val="bg1">
              <a:lumMod val="85000"/>
              <a:lumOff val="15000"/>
            </a:schemeClr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2-body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8858E47-C8ED-0E4F-9C87-8E89A7187E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2B0A019-50E2-5144-9B63-224CAD504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3401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5037BE7-AF48-B34B-A7D1-D9FAB7E1A7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11687F-5023-FB48-8B91-F280487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50AE9E-C3F0-6E48-AF7E-9A670CCA8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3C258C4-0E5F-094A-9ABD-F55815270D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38739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0A909-BB51-A64E-A153-706A25CCCD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5575" y="1628775"/>
            <a:ext cx="11880850" cy="4877182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5196C4-789B-2941-9FAE-BA826B3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84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2-column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73D7-C41A-3440-A29F-405DFA3DF42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A4530F5-9439-674C-985D-296D41BB99E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EBDB4B-3882-E14D-8868-6C9E5446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solidFill>
                  <a:schemeClr val="tx1"/>
                </a:solidFill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2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-base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69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oleObject" Target="../embeddings/oleObject1.bin"/><Relationship Id="rId6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9611498-2B1D-2DEC-8DD0-5EB82CD240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836646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461" imgH="464" progId="TCLayout.ActiveDocument.1">
                  <p:embed/>
                </p:oleObj>
              </mc:Choice>
              <mc:Fallback>
                <p:oleObj name="think-cell Slide" r:id="rId62" imgW="461" imgH="46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611498-2B1D-2DEC-8DD0-5EB82CD24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368303"/>
            <a:ext cx="11880850" cy="10810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977557"/>
            <a:ext cx="11880850" cy="4569600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31225D-0325-2840-8AEE-1E19A3FAE499}"/>
              </a:ext>
            </a:extLst>
          </p:cNvPr>
          <p:cNvCxnSpPr>
            <a:cxnSpLocks/>
          </p:cNvCxnSpPr>
          <p:nvPr userDrawn="1"/>
        </p:nvCxnSpPr>
        <p:spPr>
          <a:xfrm>
            <a:off x="0" y="361568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290A60-8ED6-2443-8FB5-49504FCCD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636" y="86656"/>
            <a:ext cx="1322917" cy="192000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D0229F-1B97-A24C-8D24-2FA2561FB550}"/>
              </a:ext>
            </a:extLst>
          </p:cNvPr>
          <p:cNvSpPr txBox="1">
            <a:spLocks/>
          </p:cNvSpPr>
          <p:nvPr userDrawn="1"/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7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6" r:id="rId2"/>
    <p:sldLayoutId id="2147484188" r:id="rId3"/>
    <p:sldLayoutId id="2147484116" r:id="rId4"/>
    <p:sldLayoutId id="2147484515" r:id="rId5"/>
    <p:sldLayoutId id="2147484119" r:id="rId6"/>
    <p:sldLayoutId id="2147484122" r:id="rId7"/>
    <p:sldLayoutId id="2147484125" r:id="rId8"/>
    <p:sldLayoutId id="2147484261" r:id="rId9"/>
    <p:sldLayoutId id="2147484131" r:id="rId10"/>
    <p:sldLayoutId id="2147484137" r:id="rId11"/>
    <p:sldLayoutId id="2147484140" r:id="rId12"/>
    <p:sldLayoutId id="2147484143" r:id="rId13"/>
    <p:sldLayoutId id="2147484146" r:id="rId14"/>
    <p:sldLayoutId id="2147484147" r:id="rId15"/>
    <p:sldLayoutId id="2147484516" r:id="rId16"/>
    <p:sldLayoutId id="2147484149" r:id="rId17"/>
    <p:sldLayoutId id="2147484153" r:id="rId18"/>
    <p:sldLayoutId id="2147484156" r:id="rId19"/>
    <p:sldLayoutId id="2147484164" r:id="rId20"/>
    <p:sldLayoutId id="2147484170" r:id="rId21"/>
    <p:sldLayoutId id="2147484173" r:id="rId22"/>
    <p:sldLayoutId id="2147484176" r:id="rId23"/>
    <p:sldLayoutId id="2147484179" r:id="rId24"/>
    <p:sldLayoutId id="2147484185" r:id="rId25"/>
    <p:sldLayoutId id="2147484368" r:id="rId26"/>
    <p:sldLayoutId id="2147484295" r:id="rId27"/>
    <p:sldLayoutId id="2147484353" r:id="rId28"/>
    <p:sldLayoutId id="2147484352" r:id="rId29"/>
    <p:sldLayoutId id="2147484394" r:id="rId30"/>
    <p:sldLayoutId id="2147484191" r:id="rId31"/>
    <p:sldLayoutId id="2147484327" r:id="rId32"/>
    <p:sldLayoutId id="2147484358" r:id="rId33"/>
    <p:sldLayoutId id="2147484298" r:id="rId34"/>
    <p:sldLayoutId id="2147484294" r:id="rId35"/>
    <p:sldLayoutId id="2147484330" r:id="rId36"/>
    <p:sldLayoutId id="2147484359" r:id="rId37"/>
    <p:sldLayoutId id="2147484299" r:id="rId38"/>
    <p:sldLayoutId id="2147484342" r:id="rId39"/>
    <p:sldLayoutId id="2147484348" r:id="rId40"/>
    <p:sldLayoutId id="2147484345" r:id="rId41"/>
    <p:sldLayoutId id="2147484763" r:id="rId42"/>
    <p:sldLayoutId id="2147484333" r:id="rId43"/>
    <p:sldLayoutId id="2147484300" r:id="rId44"/>
    <p:sldLayoutId id="2147484293" r:id="rId45"/>
    <p:sldLayoutId id="2147484235" r:id="rId46"/>
    <p:sldLayoutId id="2147484363" r:id="rId47"/>
    <p:sldLayoutId id="2147484390" r:id="rId48"/>
    <p:sldLayoutId id="2147484391" r:id="rId49"/>
    <p:sldLayoutId id="2147484393" r:id="rId50"/>
    <p:sldLayoutId id="2147484252" r:id="rId51"/>
    <p:sldLayoutId id="2147484253" r:id="rId52"/>
    <p:sldLayoutId id="2147484518" r:id="rId53"/>
    <p:sldLayoutId id="2147484663" r:id="rId54"/>
    <p:sldLayoutId id="2147484664" r:id="rId55"/>
    <p:sldLayoutId id="2147484666" r:id="rId56"/>
    <p:sldLayoutId id="2147484678" r:id="rId57"/>
    <p:sldLayoutId id="2147484698" r:id="rId58"/>
    <p:sldLayoutId id="2147484764" r:id="rId59"/>
  </p:sldLayoutIdLst>
  <p:hf hdr="0" ftr="0"/>
  <p:txStyles>
    <p:titleStyle>
      <a:lvl1pPr algn="l" defTabSz="609585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tx1"/>
          </a:solidFill>
          <a:latin typeface="Aptos" pitchFamily="2" charset="0"/>
          <a:ea typeface="Aptos" charset="0"/>
          <a:cs typeface="Aptos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None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1pPr>
      <a:lvl2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2pPr>
      <a:lvl3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3pPr>
      <a:lvl4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4pPr>
      <a:lvl5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b="0" i="0" kern="1200" spc="0">
          <a:solidFill>
            <a:schemeClr val="tx1"/>
          </a:solidFill>
          <a:latin typeface="GT America Regular"/>
          <a:ea typeface="Aptos" charset="0"/>
          <a:cs typeface="Aptos" charset="0"/>
        </a:defRPr>
      </a:lvl5pPr>
      <a:lvl6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6pPr>
      <a:lvl7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8pPr>
      <a:lvl9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98" userDrawn="1">
          <p15:clr>
            <a:srgbClr val="F26B43"/>
          </p15:clr>
        </p15:guide>
        <p15:guide id="4" pos="2593" userDrawn="1">
          <p15:clr>
            <a:srgbClr val="F26B43"/>
          </p15:clr>
        </p15:guide>
        <p15:guide id="5" pos="1345" userDrawn="1">
          <p15:clr>
            <a:srgbClr val="F26B43"/>
          </p15:clr>
        </p15:guide>
        <p15:guide id="6" pos="5087" userDrawn="1">
          <p15:clr>
            <a:srgbClr val="F26B43"/>
          </p15:clr>
        </p15:guide>
        <p15:guide id="7" pos="6335" userDrawn="1">
          <p15:clr>
            <a:srgbClr val="F26B43"/>
          </p15:clr>
        </p15:guide>
        <p15:guide id="8" pos="7582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1" orient="horz" pos="4315" userDrawn="1">
          <p15:clr>
            <a:srgbClr val="F26B43"/>
          </p15:clr>
        </p15:guide>
        <p15:guide id="12" orient="horz" pos="232" userDrawn="1">
          <p15:clr>
            <a:srgbClr val="F26B43"/>
          </p15:clr>
        </p15:guide>
        <p15:guide id="13" orient="horz" pos="1593" userDrawn="1">
          <p15:clr>
            <a:srgbClr val="F26B43"/>
          </p15:clr>
        </p15:guide>
        <p15:guide id="14" orient="horz" pos="2954" userDrawn="1">
          <p15:clr>
            <a:srgbClr val="F26B43"/>
          </p15:clr>
        </p15:guide>
        <p15:guide id="15" orient="horz" pos="363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>
          <a:xfrm>
            <a:off x="324000" y="3671999"/>
            <a:ext cx="10800000" cy="2160000"/>
          </a:xfrm>
        </p:spPr>
        <p:txBody>
          <a:bodyPr wrap="square" anchor="t">
            <a:no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4E79"/>
                </a:solidFill>
                <a:latin typeface="微软雅黑"/>
              </a:rPr>
              <a:t>推荐系统方向 · 2026 年 7 月 → 10 月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B7280"/>
                </a:solidFill>
                <a:latin typeface="微软雅黑"/>
              </a:rPr>
              <a:t>徐胜钦 · 2026-10-25 组会</a:t>
            </a:r>
          </a:p>
          <a:p>
            <a:pPr>
              <a:spcAft>
                <a:spcPts val="800"/>
              </a:spcAft>
            </a:pPr>
            <a:r>
              <a:rPr sz="800">
                <a:solidFill>
                  <a:srgbClr val="6B7280"/>
                </a:solidFill>
                <a:latin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6B7280"/>
                </a:solidFill>
                <a:latin typeface="微软雅黑"/>
              </a:rPr>
              <a:t>复现 6 篇论文 / 8 个模型 · 统一评测协议 · 全部可查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000" y="1872000"/>
            <a:ext cx="10800000" cy="1440000"/>
          </a:xfrm>
        </p:spPr>
        <p:txBody>
          <a:bodyPr/>
          <a:lstStyle/>
          <a:p>
            <a:r>
              <a:rPr sz="4000" b="1">
                <a:solidFill>
                  <a:srgbClr val="21242B"/>
                </a:solidFill>
                <a:latin typeface="微软雅黑"/>
              </a:rPr>
              <a:t>学习进度可视化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000" y="306000"/>
            <a:ext cx="11520000" cy="792000"/>
          </a:xfrm>
        </p:spPr>
        <p:txBody>
          <a:bodyPr/>
          <a:lstStyle/>
          <a:p>
            <a:r>
              <a:rPr sz="2500" b="1">
                <a:solidFill>
                  <a:srgbClr val="21242B"/>
                </a:solidFill>
                <a:latin typeface="微软雅黑"/>
              </a:rPr>
              <a:t>总览：现在在哪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000" y="1080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B7280"/>
                </a:solidFill>
                <a:latin typeface="微软雅黑"/>
              </a:rPr>
              <a:t>数据截至 2026-10-24，全部可在仓库与笔记库中查证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1026000"/>
            <a:ext cx="11520000" cy="18000"/>
          </a:xfrm>
          <a:prstGeom prst="rect">
            <a:avLst/>
          </a:prstGeom>
          <a:solidFill>
            <a:srgbClr val="D5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4000" y="1548000"/>
            <a:ext cx="2736000" cy="15840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" y="1655999"/>
            <a:ext cx="2448000" cy="792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4E79"/>
                </a:solidFill>
                <a:latin typeface="微软雅黑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2412000"/>
            <a:ext cx="2448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42B"/>
                </a:solidFill>
                <a:latin typeface="微软雅黑"/>
              </a:rPr>
              <a:t>篇论文完整复现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2736000"/>
            <a:ext cx="2448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  <a:latin typeface="微软雅黑"/>
              </a:rPr>
              <a:t>NCF · LightGCN · SASRec · BPR-MF · NGCF · BERT4Rec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6000" y="1548000"/>
            <a:ext cx="2736000" cy="15840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0000" y="1655999"/>
            <a:ext cx="2448000" cy="792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4E79"/>
                </a:solidFill>
                <a:latin typeface="微软雅黑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0000" y="2412000"/>
            <a:ext cx="2448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42B"/>
                </a:solidFill>
                <a:latin typeface="微软雅黑"/>
              </a:rPr>
              <a:t>个模型跑进同一张表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0000" y="2736000"/>
            <a:ext cx="2448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  <a:latin typeface="微软雅黑"/>
              </a:rPr>
              <a:t>集合 / 图 / 序列 三条线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999" y="1548000"/>
            <a:ext cx="2736000" cy="15840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1999" y="1655999"/>
            <a:ext cx="2448000" cy="792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4E79"/>
                </a:solidFill>
                <a:latin typeface="微软雅黑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1999" y="2412000"/>
            <a:ext cx="2448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42B"/>
                </a:solidFill>
                <a:latin typeface="微软雅黑"/>
              </a:rPr>
              <a:t>周训练（7 月初起）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1999" y="2736000"/>
            <a:ext cx="2448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  <a:latin typeface="微软雅黑"/>
              </a:rPr>
              <a:t>含 7 次课程 + 4 次组会级汇报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79999" y="1548000"/>
            <a:ext cx="2736000" cy="15840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3999" y="1655999"/>
            <a:ext cx="2448000" cy="792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4E79"/>
                </a:solidFill>
                <a:latin typeface="微软雅黑"/>
              </a:rPr>
              <a:t>5/17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3999" y="2412000"/>
            <a:ext cx="2448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42B"/>
                </a:solidFill>
                <a:latin typeface="微软雅黑"/>
              </a:rPr>
              <a:t>论文清单已消化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3999" y="2736000"/>
            <a:ext cx="2448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  <a:latin typeface="微软雅黑"/>
              </a:rPr>
              <a:t>评估方法类刚补，是当前最大缺口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000" y="3384000"/>
            <a:ext cx="7200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1242B"/>
                </a:solidFill>
                <a:latin typeface="微软雅黑"/>
              </a:rPr>
              <a:t>能力进度（自评，按真实产出给分）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000" y="3797999"/>
            <a:ext cx="2736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42B"/>
                </a:solidFill>
                <a:latin typeface="微软雅黑"/>
              </a:rPr>
              <a:t>环境与工具链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31999" y="3834000"/>
            <a:ext cx="4320000" cy="306000"/>
          </a:xfrm>
          <a:prstGeom prst="round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131999" y="3834000"/>
            <a:ext cx="4103999" cy="30600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78000" y="3808800"/>
            <a:ext cx="1152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7D5B"/>
                </a:solidFill>
                <a:latin typeface="微软雅黑"/>
              </a:rPr>
              <a:t>95%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48000" y="3816000"/>
            <a:ext cx="324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微软雅黑"/>
              </a:rPr>
              <a:t>单卡 GPU / cu130 / 数据校验脚本 / 一键自检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000" y="4338000"/>
            <a:ext cx="2736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42B"/>
                </a:solidFill>
                <a:latin typeface="微软雅黑"/>
              </a:rPr>
              <a:t>代码阅读与改造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31999" y="4374000"/>
            <a:ext cx="4320000" cy="306000"/>
          </a:xfrm>
          <a:prstGeom prst="round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131999" y="4374000"/>
            <a:ext cx="3456000" cy="30600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78000" y="4348800"/>
            <a:ext cx="1152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7D5B"/>
                </a:solidFill>
                <a:latin typeface="微软雅黑"/>
              </a:rPr>
              <a:t>80%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48000" y="4356000"/>
            <a:ext cx="324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微软雅黑"/>
              </a:rPr>
              <a:t>能读懂并改写官方实现，改动全部留痕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000" y="4878000"/>
            <a:ext cx="2736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42B"/>
                </a:solidFill>
                <a:latin typeface="微软雅黑"/>
              </a:rPr>
              <a:t>实验设计与评估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31999" y="4914000"/>
            <a:ext cx="4320000" cy="306000"/>
          </a:xfrm>
          <a:prstGeom prst="round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131999" y="4914000"/>
            <a:ext cx="3023999" cy="306000"/>
          </a:xfrm>
          <a:prstGeom prst="round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78000" y="4888800"/>
            <a:ext cx="1152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822B"/>
                </a:solidFill>
                <a:latin typeface="微软雅黑"/>
              </a:rPr>
              <a:t>70%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48000" y="4896000"/>
            <a:ext cx="324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微软雅黑"/>
              </a:rPr>
              <a:t>协议意识刚建立：统一了切分/候选/指标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000" y="5418000"/>
            <a:ext cx="2736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42B"/>
                </a:solidFill>
                <a:latin typeface="微软雅黑"/>
              </a:rPr>
              <a:t>论文精读与批判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31999" y="5454000"/>
            <a:ext cx="4320000" cy="306000"/>
          </a:xfrm>
          <a:prstGeom prst="round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131999" y="5454000"/>
            <a:ext cx="1080000" cy="306000"/>
          </a:xfrm>
          <a:prstGeom prst="round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78000" y="5428800"/>
            <a:ext cx="1152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B03A2E"/>
                </a:solidFill>
                <a:latin typeface="微软雅黑"/>
              </a:rPr>
              <a:t>25%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48000" y="5436000"/>
            <a:ext cx="324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微软雅黑"/>
              </a:rPr>
              <a:t>16 篇路线图读了 4 篇；缺评估方法类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000" y="5958000"/>
            <a:ext cx="2736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1242B"/>
                </a:solidFill>
                <a:latin typeface="微软雅黑"/>
              </a:rPr>
              <a:t>独立提出可证伪问题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131999" y="5994000"/>
            <a:ext cx="4320000" cy="306000"/>
          </a:xfrm>
          <a:prstGeom prst="round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131999" y="5994000"/>
            <a:ext cx="647999" cy="306000"/>
          </a:xfrm>
          <a:prstGeom prst="round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78000" y="5968800"/>
            <a:ext cx="1152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B03A2E"/>
                </a:solidFill>
                <a:latin typeface="微软雅黑"/>
              </a:rPr>
              <a:t>15%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48000" y="5976000"/>
            <a:ext cx="324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微软雅黑"/>
              </a:rPr>
              <a:t>还没有自己的问题，明年 1 月前要出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20000" y="3456000"/>
            <a:ext cx="3960000" cy="3096000"/>
          </a:xfrm>
          <a:prstGeom prst="roundRect">
            <a:avLst/>
          </a:prstGeom>
          <a:solidFill>
            <a:srgbClr val="FCFAF3"/>
          </a:solidFill>
          <a:ln w="9525">
            <a:solidFill>
              <a:srgbClr val="E8D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00000" y="3564000"/>
            <a:ext cx="3600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822B"/>
                </a:solidFill>
                <a:latin typeface="微软雅黑"/>
              </a:rPr>
              <a:t>一句话现状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00000" y="3924000"/>
            <a:ext cx="3600000" cy="252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30000"/>
              </a:lnSpc>
            </a:pPr>
            <a:r>
              <a:rPr sz="1080" b="0">
                <a:solidFill>
                  <a:srgbClr val="21242B"/>
                </a:solidFill>
                <a:latin typeface="微软雅黑"/>
              </a:rPr>
              <a:t>工具、代码、实验这条线已经打通：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21242B"/>
                </a:solidFill>
                <a:latin typeface="微软雅黑"/>
              </a:rPr>
              <a:t>能给六个模型同一张表。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21242B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21242B"/>
                </a:solidFill>
                <a:latin typeface="微软雅黑"/>
              </a:rPr>
              <a:t>阅读和问题意识这条线还没打通：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21242B"/>
                </a:solidFill>
                <a:latin typeface="微软雅黑"/>
              </a:rPr>
              <a:t>读得少，也还没有自己的问题。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21242B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21242B"/>
                </a:solidFill>
                <a:latin typeface="微软雅黑"/>
              </a:rPr>
              <a:t>→ 下阶段重心从「会跑」转向「会读会问」。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000" y="306000"/>
            <a:ext cx="11520000" cy="792000"/>
          </a:xfrm>
        </p:spPr>
        <p:txBody>
          <a:bodyPr/>
          <a:lstStyle/>
          <a:p>
            <a:r>
              <a:rPr sz="2500" b="1">
                <a:solidFill>
                  <a:srgbClr val="21242B"/>
                </a:solidFill>
                <a:latin typeface="微软雅黑"/>
              </a:rPr>
              <a:t>时间线：16 周做了什么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000" y="1080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B7280"/>
                </a:solidFill>
                <a:latin typeface="微软雅黑"/>
              </a:rPr>
              <a:t>每个节点都有对应证据，可现场打开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1026000"/>
            <a:ext cx="11520000" cy="18000"/>
          </a:xfrm>
          <a:prstGeom prst="rect">
            <a:avLst/>
          </a:prstGeom>
          <a:solidFill>
            <a:srgbClr val="D5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00" y="3024000"/>
            <a:ext cx="10800000" cy="28800"/>
          </a:xfrm>
          <a:prstGeom prst="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15999" y="2872800"/>
            <a:ext cx="342000" cy="342000"/>
          </a:xfrm>
          <a:prstGeom prst="ellipse">
            <a:avLst/>
          </a:prstGeom>
          <a:solidFill>
            <a:srgbClr val="3E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6000" y="2268000"/>
            <a:ext cx="2592000" cy="432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3E7CB8"/>
                </a:solidFill>
                <a:latin typeface="微软雅黑"/>
              </a:rPr>
              <a:t>7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3348000"/>
            <a:ext cx="2880000" cy="396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21242B"/>
                </a:solidFill>
                <a:latin typeface="微软雅黑"/>
              </a:rPr>
              <a:t>暑期课程 7 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3816000"/>
            <a:ext cx="2880000" cy="180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6B7280"/>
                </a:solidFill>
                <a:latin typeface="微软雅黑"/>
              </a:rPr>
              <a:t>Python / PyTorch 训练流程 /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6B7280"/>
                </a:solidFill>
                <a:latin typeface="微软雅黑"/>
              </a:rPr>
              <a:t>SASRec smoke demo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6B7280"/>
                </a:solidFill>
                <a:latin typeface="微软雅黑"/>
              </a:rPr>
              <a:t/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6B7280"/>
                </a:solidFill>
                <a:latin typeface="微软雅黑"/>
              </a:rPr>
              <a:t>→ course_materials 7 份笔记</a:t>
            </a:r>
          </a:p>
        </p:txBody>
      </p:sp>
      <p:sp>
        <p:nvSpPr>
          <p:cNvPr id="11" name="Oval 10"/>
          <p:cNvSpPr/>
          <p:nvPr/>
        </p:nvSpPr>
        <p:spPr>
          <a:xfrm>
            <a:off x="4752000" y="2872800"/>
            <a:ext cx="342000" cy="3420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1999" y="2268000"/>
            <a:ext cx="2592000" cy="432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2E7D5B"/>
                </a:solidFill>
                <a:latin typeface="微软雅黑"/>
              </a:rPr>
              <a:t>8 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99" y="3348000"/>
            <a:ext cx="2880000" cy="396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21242B"/>
                </a:solidFill>
                <a:latin typeface="微软雅黑"/>
              </a:rPr>
              <a:t>NCF 完整复现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999" y="3816000"/>
            <a:ext cx="2880000" cy="180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6B7280"/>
                </a:solidFill>
                <a:latin typeface="微软雅黑"/>
              </a:rPr>
              <a:t>GMF / MLP / NeuMF 三结构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6B7280"/>
                </a:solidFill>
                <a:latin typeface="微软雅黑"/>
              </a:rPr>
              <a:t>NeuMF 0.690 vs 论文 0.688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6B7280"/>
                </a:solidFill>
                <a:latin typeface="微软雅黑"/>
              </a:rPr>
              <a:t/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6B7280"/>
                </a:solidFill>
                <a:latin typeface="微软雅黑"/>
              </a:rPr>
              <a:t>→ NCF-reproduction 仓库</a:t>
            </a:r>
          </a:p>
        </p:txBody>
      </p:sp>
      <p:sp>
        <p:nvSpPr>
          <p:cNvPr id="15" name="Oval 14"/>
          <p:cNvSpPr/>
          <p:nvPr/>
        </p:nvSpPr>
        <p:spPr>
          <a:xfrm>
            <a:off x="7487999" y="2872800"/>
            <a:ext cx="342000" cy="342000"/>
          </a:xfrm>
          <a:prstGeom prst="ellipse">
            <a:avLst/>
          </a:prstGeom>
          <a:solidFill>
            <a:srgbClr val="3E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7999" y="2268000"/>
            <a:ext cx="2592000" cy="432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3E7CB8"/>
                </a:solidFill>
                <a:latin typeface="微软雅黑"/>
              </a:rPr>
              <a:t>9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999" y="3348000"/>
            <a:ext cx="2880000" cy="396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21242B"/>
                </a:solidFill>
                <a:latin typeface="微软雅黑"/>
              </a:rPr>
              <a:t>组会汇报 + 定方向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999" y="3816000"/>
            <a:ext cx="2880000" cy="180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6B7280"/>
                </a:solidFill>
                <a:latin typeface="微软雅黑"/>
              </a:rPr>
              <a:t>15 页汇报 + 导师约谈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6B7280"/>
                </a:solidFill>
                <a:latin typeface="微软雅黑"/>
              </a:rPr>
              <a:t>把方向定在序列推荐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6B7280"/>
                </a:solidFill>
                <a:latin typeface="微软雅黑"/>
              </a:rPr>
              <a:t/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6B7280"/>
                </a:solidFill>
                <a:latin typeface="微软雅黑"/>
              </a:rPr>
              <a:t>→ 组会备份归档</a:t>
            </a:r>
          </a:p>
        </p:txBody>
      </p:sp>
      <p:sp>
        <p:nvSpPr>
          <p:cNvPr id="19" name="Oval 18"/>
          <p:cNvSpPr/>
          <p:nvPr/>
        </p:nvSpPr>
        <p:spPr>
          <a:xfrm>
            <a:off x="10224000" y="2872800"/>
            <a:ext cx="342000" cy="34200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268000"/>
            <a:ext cx="2592000" cy="432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D9822B"/>
                </a:solidFill>
                <a:latin typeface="微软雅黑"/>
              </a:rPr>
              <a:t>10 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000" y="3348000"/>
            <a:ext cx="2880000" cy="396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21242B"/>
                </a:solidFill>
                <a:latin typeface="微软雅黑"/>
              </a:rPr>
              <a:t>统一协议 + 5 个新模型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0000" y="3816000"/>
            <a:ext cx="2880000" cy="180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6B7280"/>
                </a:solidFill>
                <a:latin typeface="微软雅黑"/>
              </a:rPr>
              <a:t>五模型迁到同一协议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6B7280"/>
                </a:solidFill>
                <a:latin typeface="微软雅黑"/>
              </a:rPr>
              <a:t>BPR-MF / NGCF / BERT4Rec 新增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6B7280"/>
                </a:solidFill>
                <a:latin typeface="微软雅黑"/>
              </a:rPr>
              <a:t/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6B7280"/>
                </a:solidFill>
                <a:latin typeface="微软雅黑"/>
              </a:rPr>
              <a:t>→ ml1m-unified-benchmark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000" y="5903999"/>
            <a:ext cx="11520000" cy="57600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000" y="5976000"/>
            <a:ext cx="11232000" cy="468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</a:rPr>
              <a:t>节奏判断：7–8 月产出密集（课程 + 复现），9 月被课程与助管切碎（只有汇报与谈话），10 月靠一次集中冲刺补回。→ 问题是节奏不稳，不是能力不够。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000" y="306000"/>
            <a:ext cx="11520000" cy="792000"/>
          </a:xfrm>
        </p:spPr>
        <p:txBody>
          <a:bodyPr/>
          <a:lstStyle/>
          <a:p>
            <a:r>
              <a:rPr sz="2500" b="1">
                <a:solidFill>
                  <a:srgbClr val="21242B"/>
                </a:solidFill>
                <a:latin typeface="微软雅黑"/>
              </a:rPr>
              <a:t>复现进度：6 篇论文 / 8 个模型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000" y="1080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B7280"/>
                </a:solidFill>
                <a:latin typeface="微软雅黑"/>
              </a:rPr>
              <a:t>「完整复现」= 数据 + 代码 + 逐 epoch 日志 + 与论文数字对照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1026000"/>
            <a:ext cx="11520000" cy="18000"/>
          </a:xfrm>
          <a:prstGeom prst="rect">
            <a:avLst/>
          </a:prstGeom>
          <a:solidFill>
            <a:srgbClr val="D5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4000" y="1584000"/>
            <a:ext cx="11520000" cy="413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3999" y="1663200"/>
            <a:ext cx="1476000" cy="288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</a:rPr>
              <a:t>论文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8000" y="1663200"/>
            <a:ext cx="1548000" cy="288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</a:rPr>
              <a:t>会议/年份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4000" y="1663200"/>
            <a:ext cx="2268000" cy="288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0000" y="1663200"/>
            <a:ext cx="1620000" cy="288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</a:rPr>
              <a:t>我的 HR@10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8000" y="1663200"/>
            <a:ext cx="1620000" cy="288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</a:rPr>
              <a:t>论文报告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86000" y="1663200"/>
            <a:ext cx="2340000" cy="288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</a:rPr>
              <a:t>状态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000" y="1998000"/>
            <a:ext cx="11520000" cy="4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3999" y="2098800"/>
            <a:ext cx="1476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1242B"/>
                </a:solidFill>
                <a:latin typeface="微软雅黑"/>
              </a:rPr>
              <a:t>BPR-MF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8000" y="2098800"/>
            <a:ext cx="1548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UAI 2009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4000" y="2098800"/>
            <a:ext cx="2268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点积 + BPR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0000" y="2098800"/>
            <a:ext cx="162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F4E79"/>
                </a:solidFill>
                <a:latin typeface="微软雅黑"/>
              </a:rPr>
              <a:t>0.6889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8000" y="2098800"/>
            <a:ext cx="162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6000" y="2098800"/>
            <a:ext cx="234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E7D5B"/>
                </a:solidFill>
                <a:latin typeface="微软雅黑"/>
              </a:rPr>
              <a:t>完整复现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000" y="2484000"/>
            <a:ext cx="11520000" cy="486000"/>
          </a:xfrm>
          <a:prstGeom prst="rect">
            <a:avLst/>
          </a:prstGeom>
          <a:solidFill>
            <a:srgbClr val="F7F8FA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3999" y="2584800"/>
            <a:ext cx="1476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1242B"/>
                </a:solidFill>
                <a:latin typeface="微软雅黑"/>
              </a:rPr>
              <a:t>NCF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8000" y="2584800"/>
            <a:ext cx="1548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WWW 2017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4000" y="2584800"/>
            <a:ext cx="2268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GMF / MLP / NeuMF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0000" y="2584800"/>
            <a:ext cx="162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F4E79"/>
                </a:solidFill>
                <a:latin typeface="微软雅黑"/>
              </a:rPr>
              <a:t>0.6904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8000" y="2584800"/>
            <a:ext cx="162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0.688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6000" y="2584800"/>
            <a:ext cx="234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E7D5B"/>
                </a:solidFill>
                <a:latin typeface="微软雅黑"/>
              </a:rPr>
              <a:t>完整复现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000" y="2970000"/>
            <a:ext cx="11520000" cy="4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3999" y="3070800"/>
            <a:ext cx="1476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1242B"/>
                </a:solidFill>
                <a:latin typeface="微软雅黑"/>
              </a:rPr>
              <a:t>NGCF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98000" y="3070800"/>
            <a:ext cx="1548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SIGIR 2019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4000" y="3070800"/>
            <a:ext cx="2268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传播 + W + 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0000" y="3070800"/>
            <a:ext cx="162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F4E79"/>
                </a:solidFill>
                <a:latin typeface="微软雅黑"/>
              </a:rPr>
              <a:t>0.6879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58000" y="3070800"/>
            <a:ext cx="162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该协议未报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6000" y="3070800"/>
            <a:ext cx="234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E7D5B"/>
                </a:solidFill>
                <a:latin typeface="微软雅黑"/>
              </a:rPr>
              <a:t>完整复现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000" y="3456000"/>
            <a:ext cx="11520000" cy="486000"/>
          </a:xfrm>
          <a:prstGeom prst="rect">
            <a:avLst/>
          </a:prstGeom>
          <a:solidFill>
            <a:srgbClr val="F7F8FA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3999" y="3556799"/>
            <a:ext cx="1476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1242B"/>
                </a:solidFill>
                <a:latin typeface="微软雅黑"/>
              </a:rPr>
              <a:t>LightGCN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98000" y="3556799"/>
            <a:ext cx="1548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SIGIR 2020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4000" y="3556799"/>
            <a:ext cx="2268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纯邻域传播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0000" y="3556799"/>
            <a:ext cx="162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F4E79"/>
                </a:solidFill>
                <a:latin typeface="微软雅黑"/>
              </a:rPr>
              <a:t>0.7149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8000" y="3556799"/>
            <a:ext cx="162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该协议未报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86000" y="3556799"/>
            <a:ext cx="234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E7D5B"/>
                </a:solidFill>
                <a:latin typeface="微软雅黑"/>
              </a:rPr>
              <a:t>完整复现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4000" y="3941999"/>
            <a:ext cx="11520000" cy="4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3999" y="4042799"/>
            <a:ext cx="1476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E7D5B"/>
                </a:solidFill>
                <a:latin typeface="微软雅黑"/>
              </a:rPr>
              <a:t>SASRec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98000" y="4042799"/>
            <a:ext cx="1548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ICDM 2018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4000" y="4042799"/>
            <a:ext cx="2268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单向自注意力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0000" y="4042799"/>
            <a:ext cx="162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F4E79"/>
                </a:solidFill>
                <a:latin typeface="微软雅黑"/>
              </a:rPr>
              <a:t>0.8295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8000" y="4042799"/>
            <a:ext cx="162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0.8235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86000" y="4042799"/>
            <a:ext cx="234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E7D5B"/>
                </a:solidFill>
                <a:latin typeface="微软雅黑"/>
              </a:rPr>
              <a:t>完整复现 + 3 seed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4000" y="4428000"/>
            <a:ext cx="11520000" cy="486000"/>
          </a:xfrm>
          <a:prstGeom prst="rect">
            <a:avLst/>
          </a:prstGeom>
          <a:solidFill>
            <a:srgbClr val="F7F8FA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3999" y="4528799"/>
            <a:ext cx="1476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E7D5B"/>
                </a:solidFill>
                <a:latin typeface="微软雅黑"/>
              </a:rPr>
              <a:t>BERT4Rec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98000" y="4528799"/>
            <a:ext cx="1548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CIKM 2019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4000" y="4528799"/>
            <a:ext cx="2268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双向 + 完形填空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0000" y="4528799"/>
            <a:ext cx="162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F4E79"/>
                </a:solidFill>
                <a:latin typeface="微软雅黑"/>
              </a:rPr>
              <a:t>0.7785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58000" y="4528799"/>
            <a:ext cx="162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86000" y="4528799"/>
            <a:ext cx="234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B03A2E"/>
                </a:solidFill>
                <a:latin typeface="微软雅黑"/>
              </a:rPr>
              <a:t>跑通但未达基线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4000" y="5039999"/>
            <a:ext cx="11520000" cy="86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关键：八个模型全部跑在**同一份切分 + 同一份 100 候选 + 同一套指标**下（ML-1M leave-one-out）。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所以它们之间的差可以直接读，不用再担心口径问题。其中 BPR-MF 与 NeuMF 打平（0.6889 vs 0.6904），NGCF 低于 LightGCN —— 这两条都不是论文里写的，是我自己跑出来的。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000" y="306000"/>
            <a:ext cx="11520000" cy="792000"/>
          </a:xfrm>
        </p:spPr>
        <p:txBody>
          <a:bodyPr/>
          <a:lstStyle/>
          <a:p>
            <a:r>
              <a:rPr sz="2500" b="1">
                <a:solidFill>
                  <a:srgbClr val="21242B"/>
                </a:solidFill>
                <a:latin typeface="微软雅黑"/>
              </a:rPr>
              <a:t>论文阅读进度：17 篇清单，5 篇已消化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000" y="1080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B7280"/>
                </a:solidFill>
                <a:latin typeface="微软雅黑"/>
              </a:rPr>
              <a:t>「已消化」= 能讲清问题—方法—实验—局限，不只是读过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1026000"/>
            <a:ext cx="11520000" cy="18000"/>
          </a:xfrm>
          <a:prstGeom prst="rect">
            <a:avLst/>
          </a:prstGeom>
          <a:solidFill>
            <a:srgbClr val="D5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584000"/>
            <a:ext cx="324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4E79"/>
                </a:solidFill>
                <a:latin typeface="微软雅黑"/>
              </a:rPr>
              <a:t>阶段① 评估与基线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4000" y="1548000"/>
            <a:ext cx="1080000" cy="4860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62000" y="1656000"/>
            <a:ext cx="1044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微软雅黑"/>
              </a:rPr>
              <a:t>BPR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03200" y="1548000"/>
            <a:ext cx="1080000" cy="4860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21200" y="1656000"/>
            <a:ext cx="1044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微软雅黑"/>
              </a:rPr>
              <a:t>✓ MF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62400" y="1548000"/>
            <a:ext cx="1080000" cy="4860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400" y="1656000"/>
            <a:ext cx="1044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微软雅黑"/>
              </a:rPr>
              <a:t>NCF vs MF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1600" y="1548000"/>
            <a:ext cx="1080000" cy="4860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600" y="1656000"/>
            <a:ext cx="1044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微软雅黑"/>
              </a:rPr>
              <a:t>采样指标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0799" y="1548000"/>
            <a:ext cx="1080000" cy="4860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8800" y="1656000"/>
            <a:ext cx="1044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微软雅黑"/>
              </a:rPr>
              <a:t>Much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000" y="2430000"/>
            <a:ext cx="324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E7D5B"/>
                </a:solidFill>
                <a:latin typeface="微软雅黑"/>
              </a:rPr>
              <a:t>阶段② 图与序列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4000" y="2394000"/>
            <a:ext cx="1080000" cy="48600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62000" y="2502000"/>
            <a:ext cx="1044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微软雅黑"/>
              </a:rPr>
              <a:t>✓ NGCF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03200" y="2394000"/>
            <a:ext cx="1080000" cy="48600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21200" y="2502000"/>
            <a:ext cx="1044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微软雅黑"/>
              </a:rPr>
              <a:t>✓ LightGCN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62400" y="2394000"/>
            <a:ext cx="1080000" cy="48600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400" y="2502000"/>
            <a:ext cx="1044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微软雅黑"/>
              </a:rPr>
              <a:t>✓ SASRec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1600" y="2394000"/>
            <a:ext cx="1080000" cy="48600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39600" y="2502000"/>
            <a:ext cx="1044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微软雅黑"/>
              </a:rPr>
              <a:t>✓ BERT4Rec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80799" y="2394000"/>
            <a:ext cx="1080000" cy="4860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8800" y="2502000"/>
            <a:ext cx="1044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微软雅黑"/>
              </a:rPr>
              <a:t>GRU4Rec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9999" y="2394000"/>
            <a:ext cx="1080000" cy="4860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7999" y="2502000"/>
            <a:ext cx="1044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微软雅黑"/>
              </a:rPr>
              <a:t>Caser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99199" y="2394000"/>
            <a:ext cx="1080000" cy="4860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17199" y="2502000"/>
            <a:ext cx="1044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微软雅黑"/>
              </a:rPr>
              <a:t>序列综述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000" y="3276000"/>
            <a:ext cx="324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9822B"/>
                </a:solidFill>
                <a:latin typeface="微软雅黑"/>
              </a:rPr>
              <a:t>阶段③ 自监督与生成式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44000" y="3240000"/>
            <a:ext cx="1080000" cy="4860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62000" y="3347999"/>
            <a:ext cx="1044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微软雅黑"/>
              </a:rPr>
              <a:t>SGL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03200" y="3240000"/>
            <a:ext cx="1080000" cy="4860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21200" y="3347999"/>
            <a:ext cx="1044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微软雅黑"/>
              </a:rPr>
              <a:t>SimGCL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62400" y="3240000"/>
            <a:ext cx="1080000" cy="4860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400" y="3347999"/>
            <a:ext cx="1044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微软雅黑"/>
              </a:rPr>
              <a:t>S3-Rec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21600" y="3240000"/>
            <a:ext cx="1080000" cy="4860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39600" y="3347999"/>
            <a:ext cx="1044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微软雅黑"/>
              </a:rPr>
              <a:t>CL4SRec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80799" y="3240000"/>
            <a:ext cx="1080000" cy="4860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98800" y="3347999"/>
            <a:ext cx="1044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微软雅黑"/>
              </a:rPr>
              <a:t>TIGER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000" y="4320000"/>
            <a:ext cx="432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1242B"/>
                </a:solidFill>
                <a:latin typeface="微软雅黑"/>
              </a:rPr>
              <a:t>整体进度  5 / 17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84000" y="4356000"/>
            <a:ext cx="5760000" cy="360000"/>
          </a:xfrm>
          <a:prstGeom prst="round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384000" y="4356000"/>
            <a:ext cx="1694117" cy="3600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60000" y="4356000"/>
            <a:ext cx="1440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4E79"/>
                </a:solidFill>
                <a:latin typeface="微软雅黑"/>
              </a:rPr>
              <a:t>29%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4000" y="4968000"/>
            <a:ext cx="11520000" cy="1512000"/>
          </a:xfrm>
          <a:prstGeom prst="roundRect">
            <a:avLst/>
          </a:prstGeom>
          <a:solidFill>
            <a:srgbClr val="FDF6F5"/>
          </a:solidFill>
          <a:ln w="9525">
            <a:solidFill>
              <a:srgbClr val="E8C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8000" y="5058000"/>
            <a:ext cx="11232000" cy="1368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21242B"/>
                </a:solidFill>
                <a:latin typeface="微软雅黑"/>
              </a:rPr>
              <a:t>最大的缺口在这里，而且我知道它为什么重要：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21242B"/>
                </a:solidFill>
                <a:latin typeface="微软雅黑"/>
              </a:rPr>
              <a:t>我现在这张八模型对比表，本质上是在补「评估方法」这一课 —— 没有 Krichene &amp; Rendle（KDD 2020）那篇，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21242B"/>
                </a:solidFill>
                <a:latin typeface="微软雅黑"/>
              </a:rPr>
              <a:t>我既说不清自己的 100 候选为什么不保序，也说服不了别人这些数字能不能比。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21242B"/>
                </a:solidFill>
                <a:latin typeface="微软雅黑"/>
              </a:rPr>
              <a:t>→ 11 月前两周先把阶段① 剩下 4 篇读完，这是所有后续工作的地基。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000" y="306000"/>
            <a:ext cx="11520000" cy="792000"/>
          </a:xfrm>
        </p:spPr>
        <p:txBody>
          <a:bodyPr/>
          <a:lstStyle/>
          <a:p>
            <a:r>
              <a:rPr sz="2500" b="1">
                <a:solidFill>
                  <a:srgbClr val="21242B"/>
                </a:solidFill>
                <a:latin typeface="微软雅黑"/>
              </a:rPr>
              <a:t>能力盘点：会什么、还不会什么（自评）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000" y="1080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B7280"/>
                </a:solidFill>
                <a:latin typeface="微软雅黑"/>
              </a:rPr>
              <a:t>按真实产出打分，不打虚的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1026000"/>
            <a:ext cx="11520000" cy="18000"/>
          </a:xfrm>
          <a:prstGeom prst="rect">
            <a:avLst/>
          </a:prstGeom>
          <a:solidFill>
            <a:srgbClr val="D5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1655999"/>
            <a:ext cx="4140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1242B"/>
                </a:solidFill>
                <a:latin typeface="微软雅黑"/>
              </a:rPr>
              <a:t>环境搭建（GPU / 依赖 / 数据校验）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36000" y="1674000"/>
            <a:ext cx="4320000" cy="270000"/>
          </a:xfrm>
          <a:prstGeom prst="round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36000" y="1674000"/>
            <a:ext cx="4103999" cy="27000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4000" y="1638000"/>
            <a:ext cx="720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E7D5B"/>
                </a:solidFill>
                <a:latin typeface="微软雅黑"/>
              </a:rPr>
              <a:t>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0000" y="1674000"/>
            <a:ext cx="2232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微软雅黑"/>
              </a:rPr>
              <a:t>从零配到能跑，写过自检脚本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000" y="2239200"/>
            <a:ext cx="4140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1242B"/>
                </a:solidFill>
                <a:latin typeface="微软雅黑"/>
              </a:rPr>
              <a:t>读官方代码并改造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36000" y="2257200"/>
            <a:ext cx="4320000" cy="270000"/>
          </a:xfrm>
          <a:prstGeom prst="round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36000" y="2257200"/>
            <a:ext cx="3456000" cy="27000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4000" y="2221200"/>
            <a:ext cx="720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E7D5B"/>
                </a:solidFill>
                <a:latin typeface="微软雅黑"/>
              </a:rP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2257200"/>
            <a:ext cx="2232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微软雅黑"/>
              </a:rPr>
              <a:t>LightGCN 重写评估、SASRec 加 seed、BERT4Rec 从头实现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000" y="2822400"/>
            <a:ext cx="4140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1242B"/>
                </a:solidFill>
                <a:latin typeface="微软雅黑"/>
              </a:rPr>
              <a:t>数据一致性验证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36000" y="2840400"/>
            <a:ext cx="4320000" cy="270000"/>
          </a:xfrm>
          <a:prstGeom prst="round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36000" y="2840400"/>
            <a:ext cx="3671999" cy="27000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4000" y="2804400"/>
            <a:ext cx="720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E7D5B"/>
                </a:solidFill>
                <a:latin typeface="微软雅黑"/>
              </a:rPr>
              <a:t>85%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0000" y="2840400"/>
            <a:ext cx="2232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微软雅黑"/>
              </a:rPr>
              <a:t>行数/字节/频次三重核对，能证明「同一份数据」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000" y="3405599"/>
            <a:ext cx="4140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1242B"/>
                </a:solidFill>
                <a:latin typeface="微软雅黑"/>
              </a:rPr>
              <a:t>实验设计与协议对齐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36000" y="3423600"/>
            <a:ext cx="4320000" cy="270000"/>
          </a:xfrm>
          <a:prstGeom prst="round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36000" y="3423600"/>
            <a:ext cx="3023999" cy="270000"/>
          </a:xfrm>
          <a:prstGeom prst="round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4000" y="3387600"/>
            <a:ext cx="720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9822B"/>
                </a:solidFill>
                <a:latin typeface="微软雅黑"/>
              </a:rPr>
              <a:t>70%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00" y="3423600"/>
            <a:ext cx="2232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微软雅黑"/>
              </a:rPr>
              <a:t>会钉切分/候选/指标；但还没做过显著性检验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000" y="3988800"/>
            <a:ext cx="4140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1242B"/>
                </a:solidFill>
                <a:latin typeface="微软雅黑"/>
              </a:rPr>
              <a:t>结果诊断（欠拟合/过拟合）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36000" y="4006800"/>
            <a:ext cx="4320000" cy="270000"/>
          </a:xfrm>
          <a:prstGeom prst="round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36000" y="4006800"/>
            <a:ext cx="2808000" cy="270000"/>
          </a:xfrm>
          <a:prstGeom prst="round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4000" y="3970800"/>
            <a:ext cx="720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9822B"/>
                </a:solidFill>
                <a:latin typeface="微软雅黑"/>
              </a:rPr>
              <a:t>65%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000" y="4006800"/>
            <a:ext cx="2232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微软雅黑"/>
              </a:rPr>
              <a:t>会看两条线和平台期；调参还没系统扫过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000" y="4572000"/>
            <a:ext cx="4140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1242B"/>
                </a:solidFill>
                <a:latin typeface="微软雅黑"/>
              </a:rPr>
              <a:t>论文精读与批判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36000" y="4590000"/>
            <a:ext cx="4320000" cy="270000"/>
          </a:xfrm>
          <a:prstGeom prst="round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36000" y="4590000"/>
            <a:ext cx="1080000" cy="270000"/>
          </a:xfrm>
          <a:prstGeom prst="round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4000" y="4554000"/>
            <a:ext cx="720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B03A2E"/>
                </a:solidFill>
                <a:latin typeface="微软雅黑"/>
              </a:rPr>
              <a:t>25%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00" y="4590000"/>
            <a:ext cx="2232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微软雅黑"/>
              </a:rPr>
              <a:t>读了 4 篇，缺评估方法类与强基线意识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000" y="5155200"/>
            <a:ext cx="4140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1242B"/>
                </a:solidFill>
                <a:latin typeface="微软雅黑"/>
              </a:rPr>
              <a:t>提出可证伪的问题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36000" y="5173200"/>
            <a:ext cx="4320000" cy="270000"/>
          </a:xfrm>
          <a:prstGeom prst="roundRect">
            <a:avLst/>
          </a:prstGeom>
          <a:solidFill>
            <a:srgbClr val="D5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36000" y="5173200"/>
            <a:ext cx="647999" cy="270000"/>
          </a:xfrm>
          <a:prstGeom prst="round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4000" y="5137200"/>
            <a:ext cx="720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B03A2E"/>
                </a:solidFill>
                <a:latin typeface="微软雅黑"/>
              </a:rPr>
              <a:t>15%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20000" y="5173200"/>
            <a:ext cx="2232000" cy="32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微软雅黑"/>
              </a:rPr>
              <a:t>还没有自己的问题，这是明年 1 月前的硬指标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4000" y="5724000"/>
            <a:ext cx="11520000" cy="79200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8000" y="5778000"/>
            <a:ext cx="11232000" cy="684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1242B"/>
                </a:solidFill>
                <a:latin typeface="微软雅黑"/>
              </a:rPr>
              <a:t>右边三条（绿）是这四个月真拿下的：能配环境、能读代码、能验数据 —— 这是做实验的下限能力。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21242B"/>
                </a:solidFill>
                <a:latin typeface="微软雅黑"/>
              </a:rPr>
              <a:t>左边两条（红）是短板：读得少、还不会提问 —— 这是做研究的上限能力。下阶段全部资源投这里。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000" y="306000"/>
            <a:ext cx="11520000" cy="792000"/>
          </a:xfrm>
        </p:spPr>
        <p:txBody>
          <a:bodyPr/>
          <a:lstStyle/>
          <a:p>
            <a:r>
              <a:rPr sz="2500" b="1">
                <a:solidFill>
                  <a:srgbClr val="21242B"/>
                </a:solidFill>
                <a:latin typeface="微软雅黑"/>
              </a:rPr>
              <a:t>结果看板：八个模型在同一张表里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324000" y="1026000"/>
            <a:ext cx="11520000" cy="18000"/>
          </a:xfrm>
          <a:prstGeom prst="rect">
            <a:avLst/>
          </a:prstGeom>
          <a:solidFill>
            <a:srgbClr val="D5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ars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00" y="1440000"/>
            <a:ext cx="10440000" cy="55639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4000" y="5616000"/>
            <a:ext cx="11520000" cy="108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三条可以直接讲的结论：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① 序列 ≫ 图 &gt; 集合：SASRec 0.8295 比 NeuMF 高 13.9 个点，不是调参能补的。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② BPR-MF 0.6889 ≈ NeuMF 0.6904 —— 复现出了 NCF 的数字，但没复现出它的结论。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③ NGCF 0.6879 &lt; LightGCN 0.7149 —— 同样加图传播，删掉 W 和 σ 反而涨 2.6 个点。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000" y="306000"/>
            <a:ext cx="11520000" cy="792000"/>
          </a:xfrm>
        </p:spPr>
        <p:txBody>
          <a:bodyPr/>
          <a:lstStyle/>
          <a:p>
            <a:r>
              <a:rPr sz="2500" b="1">
                <a:solidFill>
                  <a:srgbClr val="21242B"/>
                </a:solidFill>
                <a:latin typeface="微软雅黑"/>
              </a:rPr>
              <a:t>缺口与下一步：11 月 → 1 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000" y="1080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B7280"/>
                </a:solidFill>
                <a:latin typeface="微软雅黑"/>
              </a:rPr>
              <a:t>按「补地基 → 进方向 → 出闭环」三段，每段有可交付物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1026000"/>
            <a:ext cx="11520000" cy="18000"/>
          </a:xfrm>
          <a:prstGeom prst="rect">
            <a:avLst/>
          </a:prstGeom>
          <a:solidFill>
            <a:srgbClr val="D5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44000" y="1548000"/>
            <a:ext cx="2664000" cy="360000"/>
          </a:xfrm>
          <a:prstGeom prst="roundRect">
            <a:avLst/>
          </a:prstGeom>
          <a:solidFill>
            <a:srgbClr val="3E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4000" y="1620000"/>
            <a:ext cx="2664000" cy="288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11 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3999" y="1548000"/>
            <a:ext cx="2664000" cy="360000"/>
          </a:xfrm>
          <a:prstGeom prst="round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3999" y="1620000"/>
            <a:ext cx="2664000" cy="288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12 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4000" y="1548000"/>
            <a:ext cx="2231999" cy="36000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4000" y="1620000"/>
            <a:ext cx="2231999" cy="288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1 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000" y="2178000"/>
            <a:ext cx="324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21242B"/>
                </a:solidFill>
                <a:latin typeface="微软雅黑"/>
              </a:rPr>
              <a:t>阶段① 评估与基线（4 篇）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4000" y="2167200"/>
            <a:ext cx="2808000" cy="324000"/>
          </a:xfrm>
          <a:prstGeom prst="roundRect">
            <a:avLst/>
          </a:prstGeom>
          <a:solidFill>
            <a:srgbClr val="3E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" y="2736000"/>
            <a:ext cx="324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21242B"/>
                </a:solidFill>
                <a:latin typeface="微软雅黑"/>
              </a:rPr>
              <a:t>阶段② 图与序列（4 篇）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44000" y="2725200"/>
            <a:ext cx="3888000" cy="324000"/>
          </a:xfrm>
          <a:prstGeom prst="round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000" y="3294000"/>
            <a:ext cx="324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21242B"/>
                </a:solidFill>
                <a:latin typeface="微软雅黑"/>
              </a:rPr>
              <a:t>阶段③ 自监督与生成式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12000" y="3283199"/>
            <a:ext cx="3096000" cy="32400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000" y="3852000"/>
            <a:ext cx="324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21242B"/>
                </a:solidFill>
                <a:latin typeface="微软雅黑"/>
              </a:rPr>
              <a:t>问题定义 + 基线复现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3999" y="3841200"/>
            <a:ext cx="2808000" cy="324000"/>
          </a:xfrm>
          <a:prstGeom prst="roundRect">
            <a:avLst/>
          </a:prstGeom>
          <a:solidFill>
            <a:srgbClr val="3E7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" y="4410000"/>
            <a:ext cx="3240000" cy="36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21242B"/>
                </a:solidFill>
                <a:latin typeface="微软雅黑"/>
              </a:rPr>
              <a:t>实验闭环 + 消融 + 技术报告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80000" y="4399200"/>
            <a:ext cx="3456000" cy="324000"/>
          </a:xfrm>
          <a:prstGeom prst="round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4000" y="4896000"/>
            <a:ext cx="11520000" cy="15840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000" y="4968000"/>
            <a:ext cx="11232000" cy="1440000"/>
          </a:xfrm>
          <a:prstGeom prst="rect">
            <a:avLst/>
          </a:prstGeom>
          <a:noFill/>
        </p:spPr>
        <p:txBody>
          <a:bodyPr wrap="square" anchor="t" lIns="18000" rIns="18000" tIns="7200" bIns="7200">
            <a:no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三个必须先说清的边界：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1. 阶段④（组内方向）我没有自己选 —— 等您拍板，因为选错方向比做得慢代价大得多。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2. 我承诺的是「11 月读完阶段①②、12 月开始跑自己的实验」，不承诺发表时间。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21242B"/>
                </a:solidFill>
                <a:latin typeface="微软雅黑"/>
              </a:rPr>
              <a:t>3. 如果这三个月没有产出，您可以随时卡我 —— 但我需要知道评判标准是什么（一次组会汇报 / 一份报告 / 一次实验闭环）。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er Chapter 2020 master content white">
  <a:themeElements>
    <a:clrScheme name="Episode 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FFD6D5"/>
      </a:accent1>
      <a:accent2>
        <a:srgbClr val="004479"/>
      </a:accent2>
      <a:accent3>
        <a:srgbClr val="FEFC78"/>
      </a:accent3>
      <a:accent4>
        <a:srgbClr val="000542"/>
      </a:accent4>
      <a:accent5>
        <a:srgbClr val="FEC306"/>
      </a:accent5>
      <a:accent6>
        <a:srgbClr val="FF2741"/>
      </a:accent6>
      <a:hlink>
        <a:srgbClr val="FFD7FF"/>
      </a:hlink>
      <a:folHlink>
        <a:srgbClr val="FF4C41"/>
      </a:folHlink>
    </a:clrScheme>
    <a:fontScheme name="Aptos">
      <a:majorFont>
        <a:latin typeface="Aptos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ptos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 sz="15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689EE1F-454F-164F-9F07-0A5A3628CDB9}" vid="{7ACBC569-B1AD-D44F-A40C-8419DD20B6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4E27BF9909C49B6B2071A723661AD" ma:contentTypeVersion="15" ma:contentTypeDescription="Create a new document." ma:contentTypeScope="" ma:versionID="89e60d021bc748d53bc9aa7e10fcb79c">
  <xsd:schema xmlns:xsd="http://www.w3.org/2001/XMLSchema" xmlns:xs="http://www.w3.org/2001/XMLSchema" xmlns:p="http://schemas.microsoft.com/office/2006/metadata/properties" xmlns:ns2="1a430762-0c70-477c-9f99-4f0de377434a" xmlns:ns3="dade0ac3-28db-4265-865b-32f2de5ea973" targetNamespace="http://schemas.microsoft.com/office/2006/metadata/properties" ma:root="true" ma:fieldsID="808a36a81d09e8efd2087cc3a8bb7a3e" ns2:_="" ns3:_="">
    <xsd:import namespace="1a430762-0c70-477c-9f99-4f0de377434a"/>
    <xsd:import namespace="dade0ac3-28db-4265-865b-32f2de5ea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762-0c70-477c-9f99-4f0de3774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a1188ef-9c9a-4dc0-823e-f7ecebd9c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e0ac3-28db-4265-865b-32f2de5ea97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3fb653-ce7f-498a-9118-8c678ae9b656}" ma:internalName="TaxCatchAll" ma:showField="CatchAllData" ma:web="dade0ac3-28db-4265-865b-32f2de5ea9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430762-0c70-477c-9f99-4f0de377434a">
      <Terms xmlns="http://schemas.microsoft.com/office/infopath/2007/PartnerControls"/>
    </lcf76f155ced4ddcb4097134ff3c332f>
    <TaxCatchAll xmlns="dade0ac3-28db-4265-865b-32f2de5ea973" xsi:nil="true"/>
  </documentManagement>
</p:properties>
</file>

<file path=customXml/itemProps1.xml><?xml version="1.0" encoding="utf-8"?>
<ds:datastoreItem xmlns:ds="http://schemas.openxmlformats.org/officeDocument/2006/customXml" ds:itemID="{7A644AE8-F151-4888-8DF4-98D970F781A3}">
  <ds:schemaRefs>
    <ds:schemaRef ds:uri="1a430762-0c70-477c-9f99-4f0de377434a"/>
    <ds:schemaRef ds:uri="dade0ac3-28db-4265-865b-32f2de5ea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FE6C9F-5342-4768-9383-9F4246D324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58357-47C5-445B-A342-D73F2F220B72}">
  <ds:schemaRefs>
    <ds:schemaRef ds:uri="1a430762-0c70-477c-9f99-4f0de377434a"/>
    <ds:schemaRef ds:uri="dade0ac3-28db-4265-865b-32f2de5ea9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354cecc-0549-4241-8e61-4e4860470ed6}" enabled="1" method="Standard" siteId="{26ca13d3-00b1-4326-a52f-094eb0cb809a}" removed="0"/>
  <clbl:label id="{a9324442-4656-4fca-b26e-099b64ea741e}" enabled="1" method="Standard" siteId="{18a01ad8-9727-498a-a47d-17374c6fd9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GT America Regular</vt:lpstr>
      <vt:lpstr>Noto Mono</vt:lpstr>
      <vt:lpstr>Aptos</vt:lpstr>
      <vt:lpstr>Arial</vt:lpstr>
      <vt:lpstr>Calibri</vt:lpstr>
      <vt:lpstr>Franklin Gothic Book</vt:lpstr>
      <vt:lpstr>Franklin Gothic Demi</vt:lpstr>
      <vt:lpstr>Lucida Grande</vt:lpstr>
      <vt:lpstr>Inner Chapter 2020 master content white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Alex Wilson</dc:creator>
  <cp:keywords/>
  <dc:description/>
  <cp:lastModifiedBy>Tristan McInnis</cp:lastModifiedBy>
  <cp:revision>10</cp:revision>
  <cp:lastPrinted>2019-10-07T16:23:34Z</cp:lastPrinted>
  <dcterms:created xsi:type="dcterms:W3CDTF">2020-06-09T02:58:34Z</dcterms:created>
  <dcterms:modified xsi:type="dcterms:W3CDTF">2026-01-17T11:45:42Z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0x010100D084E27BF9909C49B6B2071A723661AD</vt:lpwstr>
  </property>
  <property fmtid="{D5CDD505-2E9C-101B-9397-08002B2CF9AE}" pid="3" name="ClassificationContentMarkingFooterLocations">
    <vt:lpwstr>Inner Chapter 2020 master content white:5</vt:lpwstr>
  </property>
  <property fmtid="{D5CDD505-2E9C-101B-9397-08002B2CF9AE}" pid="4" name="ClassificationContentMarkingFooterText">
    <vt:lpwstr>Mondelez International Internal</vt:lpwstr>
  </property>
  <property fmtid="{D5CDD505-2E9C-101B-9397-08002B2CF9AE}" pid="5" name="MediaServiceImageTags">
    <vt:lpwstr/>
  </property>
</Properties>
</file>